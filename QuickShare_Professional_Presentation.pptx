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0_img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4754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N.B.K.R. INSTITUTE OF SCIENCE &amp; TECHNOLOGY</a:t>
            </a:r>
          </a:p>
          <a:p>
            <a:pPr>
              <a:spcBef>
                <a:spcPts val="300"/>
              </a:spcBef>
              <a:defRPr sz="1100">
                <a:solidFill>
                  <a:srgbClr val="FB7185"/>
                </a:solidFill>
                <a:latin typeface="Segoe UI"/>
              </a:defRPr>
            </a:pPr>
            <a:r>
              <a:t>Department of Computer Science &amp; Engineering  •  Autonomous College · NBA &amp; NAAC 'A' Accredited</a:t>
            </a:r>
          </a:p>
        </p:txBody>
      </p:sp>
      <p:pic>
        <p:nvPicPr>
          <p:cNvPr id="5" name="Picture 4" descr="slide_10_img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114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393192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Segoe UI"/>
              </a:defRPr>
            </a:pPr>
            <a:r>
              <a:t>B.TECH CSE MAJOR PROJECT PRESENTATION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F8FAFC"/>
                </a:solidFill>
                <a:latin typeface="Segoe UI"/>
              </a:defRPr>
            </a:pPr>
            <a:r>
              <a:t>QuickShare</a:t>
            </a:r>
          </a:p>
          <a:p>
            <a:pPr>
              <a:spcBef>
                <a:spcPts val="400"/>
              </a:spcBef>
              <a:defRPr sz="2200">
                <a:solidFill>
                  <a:srgbClr val="E2E8F0"/>
                </a:solidFill>
                <a:latin typeface="Segoe UI"/>
              </a:defRPr>
            </a:pPr>
            <a:r>
              <a:t>Ephemeral Cross-Device Cloud File Sharing Platform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Zero-Login 6-Digit Transfers  •  Recipient Inboxes  •  Study Collaboration Groups  •  Personal Cloud 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3840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  <a:latin typeface="Segoe UI"/>
              </a:defRPr>
            </a:pPr>
            <a:r>
              <a:t>PROJECT SUPERVISOR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Dr. M. Sivapratap Reddy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Associate Professor, Department of CSE</a:t>
            </a:r>
            <a:br/>
            <a:r>
              <a:t>N.B.K.R. Institute of Science &amp; Technology</a:t>
            </a:r>
            <a:br/>
            <a:r>
              <a:t>Vidyanagar, Andhra Pradesh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4160520"/>
            <a:ext cx="6656832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343400"/>
            <a:ext cx="6217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B7185"/>
                </a:solidFill>
                <a:latin typeface="Segoe UI"/>
              </a:defRPr>
            </a:pPr>
            <a:r>
              <a:t>PROJECT ENGINEERING TEAM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709160"/>
            <a:ext cx="1005840" cy="256032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4690872"/>
            <a:ext cx="1965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 D Vara Prasad Reddy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212080"/>
            <a:ext cx="1005840" cy="256032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5193792"/>
            <a:ext cx="1965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Shaik Arif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715000"/>
            <a:ext cx="1005840" cy="256032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24KB1A05HW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5696712"/>
            <a:ext cx="1965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Sk Mohammed Rasikh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09160"/>
            <a:ext cx="1005840" cy="256032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4690872"/>
            <a:ext cx="1965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Shaik Rehan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5212080"/>
            <a:ext cx="1005840" cy="256032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5193792"/>
            <a:ext cx="1965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Veeravalli Syam Sundar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29384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Problem Statement &amp; Engineering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Addressing the friction, storage caps, and privacy vulnerabilities of existing file-transfer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4348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Segoe UI"/>
              </a:defRPr>
            </a:pPr>
            <a:r>
              <a:t>CURRENT SYSTEM LIMITATIONS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478024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242316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Mandatory Account Creation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Google Drive, Dropbox, and OneDrive enforce account logins, mandatory app installs, and complex link permission management for one-off transfers.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374136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319272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Aggressive Quality Compression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Messaging apps (WhatsApp, Telegram) compress high-res camera photos, strip color metadata, and enforce strict 25 MB to 100 MB payload caps.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70247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4215383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Lingering Cloud Exposure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Uploaded public links remain accessible indefinitely on cloud storage, creating orphaned data vulnerabilities and accidental exposure of sensitive files.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5166360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5111496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Platform &amp; Ecosystem Barriers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AirDrop and Quick Share fail entirely across mixed environments (iOS, Android, Windows, Mac, Linux), isolating students with different hardware.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749039"/>
            <a:ext cx="941832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SOLVED</a:t>
            </a:r>
            <a:br/>
            <a:r>
              <a:t>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783080"/>
            <a:ext cx="5166360" cy="4434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QUICKSHARE ENGINEERING OBJECTIVES</a:t>
            </a:r>
          </a:p>
        </p:txBody>
      </p:sp>
      <p:sp>
        <p:nvSpPr>
          <p:cNvPr id="21" name="Oval 20"/>
          <p:cNvSpPr/>
          <p:nvPr/>
        </p:nvSpPr>
        <p:spPr>
          <a:xfrm>
            <a:off x="6565392" y="2478024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242316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Zero-Login Ephemeral Transfers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Send and retrieve files instantly using 6-digit random codes, direct recipient inboxes, or QR codes without registering accounts or sharing passwords.</a:t>
            </a:r>
          </a:p>
        </p:txBody>
      </p:sp>
      <p:sp>
        <p:nvSpPr>
          <p:cNvPr id="23" name="Oval 22"/>
          <p:cNvSpPr/>
          <p:nvPr/>
        </p:nvSpPr>
        <p:spPr>
          <a:xfrm>
            <a:off x="6565392" y="3374136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3319272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Automated Lifecycle &amp; Physical Purge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Scheduled file expiration timers (1h, 6h, 24h, 3d, 7d) combined with immediate physical binary deletion from cloud S3 buckets upon expiry.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4270247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4215383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Universal Cross-Platform Parity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 lightweight, modern Single-Page Application (SPA) delivering uniform performance across desktop browsers, smartphones, tablets, and campus kiosks.</a:t>
            </a:r>
          </a:p>
        </p:txBody>
      </p:sp>
      <p:sp>
        <p:nvSpPr>
          <p:cNvPr id="27" name="Oval 26"/>
          <p:cNvSpPr/>
          <p:nvPr/>
        </p:nvSpPr>
        <p:spPr>
          <a:xfrm>
            <a:off x="6565392" y="5166360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5111496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Zero Financial Overhead (₹0 / Month)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Engineered to operate 100% on production-ready free cloud tiers (Vercel, Render, TiDB, Supabase) with zero credit card requirements or maintenance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432304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Three Transfer Modes &amp; High-Speed Security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One unified platform delivering three adaptable handover mechanics for any academic or personal transfer.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965960"/>
            <a:ext cx="384048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6-Digit Quick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Senders generate a random 6-digit transfer code; receivers type it in on any device for instant streaming decryption with zero accounts.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369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Zero account creation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9300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56432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Ideal for desktop-to-phone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4904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12464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5-Attempt brute-force defense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7" y="178308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7" y="178308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0287" y="1965960"/>
            <a:ext cx="384048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7" y="192024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Direct In-App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7" y="2331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Route files directly to a classmate's registered @username. Files land in their private inbox queue with WhatsApp-style delivery receipts.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7" y="3236976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7" y="3200400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Dispatched to @username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7" y="3493008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7" y="3456432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Real-time delivery ticks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7" y="3749040"/>
            <a:ext cx="73152" cy="7315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447" y="3712464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Senders can attach notes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178308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1783080"/>
            <a:ext cx="3383280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66176" y="1965960"/>
            <a:ext cx="384048" cy="2743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3376" y="192024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Encrypted Links &amp; QR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23317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Generates unguessable 128-bit cryptographic share URLs alongside high-contrast QR codes for rapid mobile camera scanning and instant downloading.</a:t>
            </a:r>
          </a:p>
        </p:txBody>
      </p:sp>
      <p:sp>
        <p:nvSpPr>
          <p:cNvPr id="35" name="Oval 34"/>
          <p:cNvSpPr/>
          <p:nvPr/>
        </p:nvSpPr>
        <p:spPr>
          <a:xfrm>
            <a:off x="8266176" y="3236976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3200400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128-Bit unguessable URL</a:t>
            </a:r>
          </a:p>
        </p:txBody>
      </p:sp>
      <p:sp>
        <p:nvSpPr>
          <p:cNvPr id="37" name="Oval 36"/>
          <p:cNvSpPr/>
          <p:nvPr/>
        </p:nvSpPr>
        <p:spPr>
          <a:xfrm>
            <a:off x="8266176" y="3493008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3456432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High-contrast QR generator</a:t>
            </a:r>
          </a:p>
        </p:txBody>
      </p:sp>
      <p:sp>
        <p:nvSpPr>
          <p:cNvPr id="39" name="Oval 38"/>
          <p:cNvSpPr/>
          <p:nvPr/>
        </p:nvSpPr>
        <p:spPr>
          <a:xfrm>
            <a:off x="8266176" y="3749040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3712464"/>
            <a:ext cx="28803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1-Click WhatsApp/Email share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251960"/>
            <a:ext cx="10728655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BUILT FOR MAXIMUM SPEED &amp; DEFENSE-IN-DEPTH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754880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Bcrypt Passwords &amp; Burn</a:t>
            </a:r>
          </a:p>
          <a:p>
            <a:pPr>
              <a:spcBef>
                <a:spcPts val="200"/>
              </a:spcBef>
              <a:defRPr sz="1000">
                <a:solidFill>
                  <a:srgbClr val="FB7185"/>
                </a:solidFill>
                <a:latin typeface="Consolas"/>
              </a:defRPr>
            </a:pPr>
            <a:r>
              <a:t>10-Round Salted Bcrypt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Optional transfer password protection paired with Burn-on-Download mode that purges the file immediately after the first successful retrieval.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754880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192-Bit Secret Revoke Key</a:t>
            </a:r>
          </a:p>
          <a:p>
            <a:pPr>
              <a:spcBef>
                <a:spcPts val="200"/>
              </a:spcBef>
              <a:defRPr sz="1000">
                <a:solidFill>
                  <a:srgbClr val="FB7185"/>
                </a:solidFill>
                <a:latin typeface="Consolas"/>
              </a:defRPr>
            </a:pPr>
            <a:r>
              <a:t>Private Cryptographic Token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Every upload issues a private 24-byte owner key allowing the uploader to destroy file binaries from cloud S3 storage at any time from any device.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754880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15-Minute Auto-Sweeper</a:t>
            </a:r>
          </a:p>
          <a:p>
            <a:pPr>
              <a:spcBef>
                <a:spcPts val="200"/>
              </a:spcBef>
              <a:defRPr sz="1000">
                <a:solidFill>
                  <a:srgbClr val="FB7185"/>
                </a:solidFill>
                <a:latin typeface="Consolas"/>
              </a:defRPr>
            </a:pPr>
            <a:r>
              <a:t>Automated Node-Cron Service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Continuous background cleaner evaluating expired shares every 15 minutes, permanently unlinking databases and purging Supabase S3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31136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Six-Tier Cloud Topology &amp; 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distributed, modular microservices topology running entirely within free cloud quotas.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947672"/>
            <a:ext cx="640080" cy="237744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11D48"/>
                </a:solidFill>
                <a:latin typeface="Consolas"/>
              </a:defRPr>
            </a:pPr>
            <a:r>
              <a:t>Tier 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4767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HTTPS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Client Browser (SPA)</a:t>
            </a:r>
          </a:p>
          <a:p>
            <a:pPr>
              <a:spcBef>
                <a:spcPts val="200"/>
              </a:spcBef>
              <a:defRPr sz="1100" b="1">
                <a:solidFill>
                  <a:srgbClr val="E11D48"/>
                </a:solidFill>
                <a:latin typeface="Segoe UI"/>
              </a:defRPr>
            </a:pPr>
            <a:r>
              <a:t>React 18 + Vite SPA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Modern Single-Page Application with responsive CSS, light/dark mode engine, and touch-optimized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7" y="178308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0287" y="1947672"/>
            <a:ext cx="64008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Consolas"/>
              </a:defRPr>
            </a:pPr>
            <a:r>
              <a:t>Tier 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7" y="194767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Global 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7" y="225856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Global Edge CDN</a:t>
            </a:r>
          </a:p>
          <a:p>
            <a:pPr>
              <a:spcBef>
                <a:spcPts val="200"/>
              </a:spcBef>
              <a:defRPr sz="1100" b="1">
                <a:solidFill>
                  <a:srgbClr val="4F46E5"/>
                </a:solidFill>
                <a:latin typeface="Segoe UI"/>
              </a:defRPr>
            </a:pPr>
            <a:r>
              <a:t>Vercel Anycast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7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Worldwide edge caching, automated SSL/TLS certificate lifecycle, and zero-downtime continuous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78308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6176" y="1947672"/>
            <a:ext cx="640080" cy="237744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11D48"/>
                </a:solidFill>
                <a:latin typeface="Consolas"/>
              </a:defRPr>
            </a:pPr>
            <a:r>
              <a:t>Tier 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4976" y="194767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JWT Auth &amp; Crypto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5856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REST API Service</a:t>
            </a:r>
          </a:p>
          <a:p>
            <a:pPr>
              <a:spcBef>
                <a:spcPts val="200"/>
              </a:spcBef>
              <a:defRPr sz="1100" b="1">
                <a:solidFill>
                  <a:srgbClr val="E11D48"/>
                </a:solidFill>
                <a:latin typeface="Segoe UI"/>
              </a:defRPr>
            </a:pPr>
            <a:r>
              <a:t>Node.js 22+ &amp;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8346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Core backend orchestrating file streaming, SHA-256 validation, JWT sessions, and 6-digit code lookups.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02336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187952"/>
            <a:ext cx="64008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Consolas"/>
              </a:defRPr>
            </a:pPr>
            <a:r>
              <a:t>Tier 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18795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Auto-Scaling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Relational Cloud DB</a:t>
            </a:r>
          </a:p>
          <a:p>
            <a:pPr>
              <a:spcBef>
                <a:spcPts val="200"/>
              </a:spcBef>
              <a:defRPr sz="1100" b="1">
                <a:solidFill>
                  <a:srgbClr val="4F46E5"/>
                </a:solidFill>
                <a:latin typeface="Segoe UI"/>
              </a:defRPr>
            </a:pPr>
            <a:r>
              <a:t>TiDB Serverless (MySQL 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Distributed cloud MySQL engine managing persistent metadata, user profiles, study groups, and delivery audits.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7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07407" y="402336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90287" y="4187952"/>
            <a:ext cx="640080" cy="237744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11D48"/>
                </a:solidFill>
                <a:latin typeface="Consolas"/>
              </a:defRPr>
            </a:pPr>
            <a:r>
              <a:t>Tier 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7" y="418795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Encrypted Blobs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7" y="449884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Object Binary Store</a:t>
            </a:r>
          </a:p>
          <a:p>
            <a:pPr>
              <a:spcBef>
                <a:spcPts val="200"/>
              </a:spcBef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Supabase S3 Bucket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7" y="50749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S3-compatible binary blob storage with streaming chunk downloads, on-the-fly ZIP bundling, and zero egress fees.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83296" y="402336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66176" y="4187952"/>
            <a:ext cx="640080" cy="237744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46E5"/>
                </a:solidFill>
                <a:latin typeface="Consolas"/>
              </a:defRPr>
            </a:pPr>
            <a:r>
              <a:t>Tier 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94976" y="4187952"/>
            <a:ext cx="1188720" cy="23774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Scheduled Purge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4498848"/>
            <a:ext cx="3017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Auto-Cleaner Sweeper</a:t>
            </a:r>
          </a:p>
          <a:p>
            <a:pPr>
              <a:spcBef>
                <a:spcPts val="200"/>
              </a:spcBef>
              <a:defRPr sz="1100" b="1">
                <a:solidFill>
                  <a:srgbClr val="4F46E5"/>
                </a:solidFill>
                <a:latin typeface="Segoe UI"/>
              </a:defRPr>
            </a:pPr>
            <a:r>
              <a:t>Node-Cron Background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50749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Automated maintenance service executing every 15 minutes to evaluate lifecycles and purge expired S3 binaries.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828800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Account Profile &amp; Cloud Storage Quota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Identity, personal cloud storage quota, and session security in a unified user drawer.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https://quickshare-nbkr.vercel.app/profile</a:t>
            </a:r>
          </a:p>
        </p:txBody>
      </p:sp>
      <p:pic>
        <p:nvPicPr>
          <p:cNvPr id="14" name="Picture 13" descr="screen_01_auth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92024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Authenticated Student Identity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Displays verified student name, @username, and university institutional email with custom avatar.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2660904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Real-Time Quota Progress Meter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Live progress bar monitoring active storage usage against the 1024 MB free cloud storage tier.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6" y="3401568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Custom Avatar Personalization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8-Color identity palette allowing students to customize their visual badge across collaborative study groups.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1776" y="4142232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Cryptographic Credential Security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In-app password updating secured by 10-round salted Bcrypt validation and current-password verification.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1776" y="4882896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Active Session Control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One-click instant logout with cryptographic JWT token invalidation across all open browser sessions.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51776" y="562356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Zero-Friction Access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Accessible with one click directly from the persistent top navigation bar without interrupting active transfers.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3055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TRANSFER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Transfer Dashboard: Primary Send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Intuitive drag-and-drop workspace supporting multi-file uploads and security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https://quickshare-nbkr.vercel.app/transfer</a:t>
            </a:r>
          </a:p>
        </p:txBody>
      </p:sp>
      <p:pic>
        <p:nvPicPr>
          <p:cNvPr id="14" name="Picture 13" descr="screen_04_se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92024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Multi-File Drag &amp; Drop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Upload up to 10 files simultaneously with visual drag hover states and native folder browsing.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2660904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File Size Limit Presets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Dynamic upload capacity chips supporting 50 MB, 100 MB, 250 MB, 500 MB, 1 GB, and 2 GB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6" y="3401568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Custom Expiration Timers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Granular transfer lifecycles: 1 Hour, 6 Hours, 24 Hours (Default), 3 Days, or 7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1776" y="4142232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Bcrypt Password Protection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Optional transfer lock requiring recipients to supply a password before files can be inspected or downloaded.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1776" y="4882896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Burn-on-Download Mode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Ephemeral destruction flag that automatically purges the file immediately upon the first successful retrieval.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51776" y="562356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Direct Inbox Dispatch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Quick toggle allowing senders to route files directly to a classmate's registered handle (@username).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31136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TRANSFER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Share Result Screen: Code, Links &amp; Owner Secret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Comprehensive post-upload completion hub providing all transfer channels and revocation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https://quickshare-nbkr.vercel.app/share/complete</a:t>
            </a:r>
          </a:p>
        </p:txBody>
      </p:sp>
      <p:pic>
        <p:nvPicPr>
          <p:cNvPr id="14" name="Picture 13" descr="screen_05_shar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92024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Prominent 6-Digit Transfer Code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High-contrast 6-digit pickup code displayed prominently for rapid verbal or messaging handover.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2660904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Unguessable 128-Bit URL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Cryptographically secure public download link with 1-click clipboard copying.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6" y="3401568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Instant QR Code Modal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One-tap trigger opening a full-resolution QR code optimized for smartphone camera scanning.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1776" y="4142232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Direct Social Sharing Buttons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Instant 1-click dispatch buttons pre-populating download links into WhatsApp, Telegram, and Email.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1776" y="4882896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Transfer Metadata Summary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Transparent inspection of total payload size, file count, and exact expiration timestamp countdown.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51776" y="562356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Private 24-Byte Delete Key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Owner-only revocation token allowing the sender to destroy the files permanently at any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31136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RECEIVER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Receive Interface: Instant 6-Digit Code Redemption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Frictionless pickup interface requiring zero accounts, confirmations, or personal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920240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Instant 6-Digit Code Entry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Large, focused input box accepting transfer codes (e.g. 839 204) or full share URLs with live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2660904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Zero-Login Pickup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Recipients never need an account, password creation, or email verification to access and download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3401568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Multi-File Streaming ZIP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Option to download individual files or stream the entire transfer bundle as an automated ZIP archive.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142232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Automatic Password Modal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Password-protected transfers dynamically prompt for the Bcrypt password with instant credential check.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4882896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Brute-Force Lockout Defense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Progressive rate-limiting lockout restricting unauthorized code guessing attempts after 5 failures.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623560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Camera QR Code Pickup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Mobile users can scan the QR code to navigate straight to the file decryption and download screen.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93792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21808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68112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14416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33872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https://quickshare-nbkr.vercel.app/receive</a:t>
            </a:r>
          </a:p>
        </p:txBody>
      </p:sp>
      <p:pic>
        <p:nvPicPr>
          <p:cNvPr id="32" name="Picture 31" descr="screen_03_receiv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75688"/>
            <a:ext cx="6227064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63347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DIRECT IN-APP TRANSFERS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Direct Recipient Inbox &amp; Delivery Audit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Peer-to-peer file routing straight to registered usernames with end-to-end delivery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09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https://quickshare-nbkr.vercel.app/inbox</a:t>
            </a:r>
          </a:p>
        </p:txBody>
      </p:sp>
      <p:pic>
        <p:nvPicPr>
          <p:cNvPr id="14" name="Picture 13" descr="screen_09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92024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Direct User Dispatch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Send files directly to student handles (@username) without generating or exposing public download links.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2660904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Single Tick (✓ Sent)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Verifies that the payload has been encrypted and stored successfully on the cloud server.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6" y="3401568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Double Tick (✓✓ Delivered)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Confirms that the transfer has successfully entered the recipient's personal inbox queue.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1776" y="4142232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Double Green Tick (✓✓ Opened)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Real-time confirmation that the recipient has authenticated and downloaded the transferred files.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1776" y="4882896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Transfer Notes &amp; Context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Senders can attach instructions, project deadlines, or review notes to the transfer payload.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51776" y="562356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Inline Organization Tools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Recipients can preview, inline-rename, accept, pin, archive, or download incoming transfers.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3055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TEAM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Study Groups &amp; Real-Time Chat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Dedicated academic team workspaces combining WhatsApp-style chat with centralized file repositories.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10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920240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Named Project Workspaces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Create persistent collaboration groups for lab batches, capstone project teams, and study circles.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2660904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Real-Time Group Chat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WhatsApp-style message bubbles with sender avatars, verified timestamps, and message deletion rights.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3401568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Inline File Attachments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Attach project documents, diagrams, and code archives directly inside the conversational 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142232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Centralized Files Tab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Dedicated project file repository acting as a single source of truth for all shared team deliverables.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4882896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One-Tap Group Invites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Instant WhatsApp invite link and high-contrast QR code generation for rapid peer onboarding.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623560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Role-Based Permissions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Clear owner and member role hierarchy to prevent unauthorized group modifications or accidental deletions.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93792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21808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68112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14416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33872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https://quickshare-nbkr.vercel.app/groups</a:t>
            </a:r>
          </a:p>
        </p:txBody>
      </p:sp>
      <p:pic>
        <p:nvPicPr>
          <p:cNvPr id="32" name="Picture 31" descr="screen_08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75688"/>
            <a:ext cx="6227064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3055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CLOUD FILE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Personal Cloud Drive &amp; Storage Lifecycle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Centralized personal console for managing uploaded deliverables, quota, and early deletion.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11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https://quickshare-nbkr.vercel.app/my-files</a:t>
            </a:r>
          </a:p>
        </p:txBody>
      </p:sp>
      <p:pic>
        <p:nvPicPr>
          <p:cNvPr id="14" name="Picture 13" descr="screen_07_my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6" y="192024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7452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Real Uploaded Deliverables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Active storage console showcasing project source ZIPs, reports, diagrams, and PDF specifications.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523744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2660904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615184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Storage Quota Progress Meter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Live progress bar monitoring active usage against the 1024 MB free storage allowance.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64408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6" y="3401568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3355848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Smart Category Filters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Instant 1-click filtering across All Files, Images, Documents, Media, Archives, and Trash Bin.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05072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1776" y="4142232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4096512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Soft-Delete Trash Bin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Safe deletion workflow with 1-click instant restoration of accidentally removed project files.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745736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1776" y="4882896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37176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Inline Name Editing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Rename files directly inside the cloud drive without re-uploading the underlying binary assets.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5486400"/>
            <a:ext cx="4236415" cy="667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51776" y="5623560"/>
            <a:ext cx="347472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5577840"/>
            <a:ext cx="3578047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Owner Cryptographic Keys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Quick access to the secret 24-byte delete key for immediate cloud-wide revocation.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3055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CONFIDENTIAL PURGE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Secret Key Deletion: Emergency File Purge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Owner-controlled emergency destruction mechanism to revoke accidental or sensitive file shares.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2144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https://quickshare-nbkr.vercel.app/delete-key</a:t>
            </a:r>
          </a:p>
        </p:txBody>
      </p:sp>
      <p:pic>
        <p:nvPicPr>
          <p:cNvPr id="14" name="Picture 13" descr="screen_02_revok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6227064" cy="4123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1783080"/>
            <a:ext cx="423641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60920" y="1947672"/>
            <a:ext cx="384048" cy="29260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892808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Private 24-Byte Token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High-entropy token generated exclusively at upload and provided only to the uploader.</a:t>
            </a:r>
          </a:p>
          <a:p>
            <a:pPr>
              <a:spcBef>
                <a:spcPts val="300"/>
              </a:spcBef>
              <a:defRPr sz="900" b="1">
                <a:solidFill>
                  <a:srgbClr val="D97706"/>
                </a:solidFill>
                <a:latin typeface="Consolas"/>
              </a:defRPr>
            </a:pPr>
            <a:r>
              <a:t>• Generated during upload · Never exposed to public recipients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898648"/>
            <a:ext cx="423641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3063240"/>
            <a:ext cx="384048" cy="29260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008376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Cross-Device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Senders can paste the key into the modal from any browser or smartphone without logging in.</a:t>
            </a:r>
          </a:p>
          <a:p>
            <a:pPr>
              <a:spcBef>
                <a:spcPts val="300"/>
              </a:spcBef>
              <a:defRPr sz="900" b="1">
                <a:solidFill>
                  <a:srgbClr val="D97706"/>
                </a:solidFill>
                <a:latin typeface="Consolas"/>
              </a:defRPr>
            </a:pPr>
            <a:r>
              <a:t>• Zero login required · Instant cryptographic hash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014215"/>
            <a:ext cx="423641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20" y="4178807"/>
            <a:ext cx="384048" cy="29260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123943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Immediate Physical S3 Purge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File binaries are destroyed immediately from cloud Supabase S3 buckets with zero disk cache.</a:t>
            </a:r>
          </a:p>
          <a:p>
            <a:pPr>
              <a:spcBef>
                <a:spcPts val="300"/>
              </a:spcBef>
              <a:defRPr sz="900" b="1">
                <a:solidFill>
                  <a:srgbClr val="D97706"/>
                </a:solidFill>
                <a:latin typeface="Consolas"/>
              </a:defRPr>
            </a:pPr>
            <a:r>
              <a:t>• Complete binary deletion · Zero residual cloud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129784"/>
            <a:ext cx="423641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5294376"/>
            <a:ext cx="384048" cy="29260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5239512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HTTP 410 Gone Revocation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Shared links return permanent HTTP 410 Gone; files cannot be decrypted or retrieved again.</a:t>
            </a:r>
          </a:p>
          <a:p>
            <a:pPr>
              <a:spcBef>
                <a:spcPts val="300"/>
              </a:spcBef>
              <a:defRPr sz="900" b="1">
                <a:solidFill>
                  <a:srgbClr val="D97706"/>
                </a:solidFill>
                <a:latin typeface="Consolas"/>
              </a:defRPr>
            </a:pPr>
            <a:r>
              <a:t>• Permanent link invalidation · Session metadata purged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29384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AUDIT &amp;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Transfer Activity Timeline &amp; Audit Event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comprehensive chronological audit log tracking all file transfers, receipts, and deletions.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4236415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920240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74520"/>
            <a:ext cx="3578047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Chronological Event Feed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Real-time feed tracking all account file uploads, direct transfers, and recipient downloads with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9191"/>
            <a:ext cx="4236415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2816351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70631"/>
            <a:ext cx="3578047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Transfer Code Linking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Every audit record displays the associated 6-digit code and share token for clear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4"/>
            <a:ext cx="4236415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3712464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66744"/>
            <a:ext cx="3578047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Payload Volume Accounting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Logs exact file counts and byte sizes for transparent storage accountability and quota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71416"/>
            <a:ext cx="4236415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608576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562856"/>
            <a:ext cx="3578047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Privacy History Control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Users can clear their personal activity logs with 1 click to maintain strict privacy protection.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67528"/>
            <a:ext cx="4236415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5504688"/>
            <a:ext cx="347472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458968"/>
            <a:ext cx="3578047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Zero Layout Shift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Smooth, responsive layout guaranteeing complete legibility across mobile and desktop devices.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1783080"/>
            <a:ext cx="6263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93792" y="1783080"/>
            <a:ext cx="626364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21808" y="187452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68112" y="18745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14416" y="187452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33872" y="1837944"/>
            <a:ext cx="544068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https://quickshare-nbkr.vercel.app/activity</a:t>
            </a:r>
          </a:p>
        </p:txBody>
      </p:sp>
      <p:pic>
        <p:nvPicPr>
          <p:cNvPr id="29" name="Picture 28" descr="screen_10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75688"/>
            <a:ext cx="6227064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432304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MOBILE RESPONSIVENESS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Mobile Smartphone Ergonomics &amp; Docked Bottom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Optimized thumb-friendly interface engineered for narrow viewports and touch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83080"/>
            <a:ext cx="2148840" cy="4434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74520" y="1856232"/>
            <a:ext cx="594360" cy="109728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11_mobile_bottom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002536"/>
            <a:ext cx="2039112" cy="41422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0" y="1783080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03904" y="1947672"/>
            <a:ext cx="365760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19202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Docked Bottom Navigation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Thumb-reachable docked bar providing 1-tap switching between all 5 primary 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783080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81544" y="1947672"/>
            <a:ext cx="365760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9202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Five Primary Tabs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Instant access to Transfer, Inbox, My Files, Groups, and Activity from any screen.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264408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03904" y="3429000"/>
            <a:ext cx="365760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340156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Live Notification Badges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Real-time badge counter displaying unread incoming transfers directly on the Inbox icon.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264408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81544" y="3429000"/>
            <a:ext cx="365760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40156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Narrow Viewport Resilience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Zero text clipping and adaptive cards engineered specifically for 320px–420px mobile screens.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745736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03904" y="4910328"/>
            <a:ext cx="365760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4882896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Touch-Target Sizing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44px minimum touch targets preventing accidental taps on mobile touchscreens.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745736"/>
            <a:ext cx="3794760" cy="13533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81544" y="4910328"/>
            <a:ext cx="365760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4882896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 Layout Shift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Lightweight CSS and smooth transitions ensuring instant rendering with zero page reloads.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31720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VISUAL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Light &amp; Dark Themes: Ambient Visual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Seamless 1-click theme switching tuned for daylight classrooms and low-light laboratory study.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83080"/>
            <a:ext cx="3840480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Segoe UI"/>
              </a:defRPr>
            </a:pPr>
            <a:r>
              <a:t>1-CLICK ZERO-RELOAD THEME SWITCHER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166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1663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22402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2402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22402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2203704"/>
            <a:ext cx="434340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 [Day Mode]</a:t>
            </a:r>
          </a:p>
        </p:txBody>
      </p:sp>
      <p:pic>
        <p:nvPicPr>
          <p:cNvPr id="15" name="Picture 14" descr="screen_13_ligh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41448"/>
            <a:ext cx="5129784" cy="26151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166360"/>
            <a:ext cx="51663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Segoe UI"/>
              </a:defRPr>
            </a:pPr>
            <a:r>
              <a:t>DAYLIGHT CLASSROOM USABILITY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• Pure white canvas (#FFFFFF) and slate typography tuned for bright ambient lighting.</a:t>
            </a:r>
            <a:br/>
            <a:r>
              <a:t>• High-contrast visual focus boundaries separating dropzones, buttons, and input fields.</a:t>
            </a:r>
            <a:br/>
            <a:r>
              <a:t>• Inter font rendering with uniform border radiuses and soft, natural drop shadows.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148840"/>
            <a:ext cx="5166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2148840"/>
            <a:ext cx="5166360" cy="2926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22402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22402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11696" y="22402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31152" y="2203704"/>
            <a:ext cx="4343400" cy="182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https://quickshare-nbkr.vercel.app [Night Mode]</a:t>
            </a:r>
          </a:p>
        </p:txBody>
      </p:sp>
      <p:pic>
        <p:nvPicPr>
          <p:cNvPr id="24" name="Picture 23" descr="screen_12_night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41448"/>
            <a:ext cx="5129784" cy="261518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91072" y="5166360"/>
            <a:ext cx="51663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25780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LOW-LIGHT LAB &amp; OLED EFFICIENCY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Deep obsidian canvas (#0B1120) with subtle indigo radial depth gradients.</a:t>
            </a:r>
            <a:br/>
            <a:r>
              <a:t>• Lowers screen glare and significantly reduces OLED battery draw on smartphones.</a:t>
            </a:r>
            <a:br/>
            <a:r>
              <a:t>• User theme preference automatically persisted in browser local storage across sessions.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35224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ENGINEERING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Technology Stack &amp; ₹0 Cloud Architecture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Demonstrating modern architectural efficiency with zero recurring financial overhead.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728655" cy="7315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10241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Segoe UI"/>
              </a:defRPr>
            </a:pPr>
            <a:r>
              <a:t>TOTAL CLOUD INFRASTRUCTURE HOSTING COST: ₹0 / MONTH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100% Free Forever Tier  •  No Credit Card Required  •  Production-Ready SLA &amp; High Availability Across All Microservices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20299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029968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2880360"/>
            <a:ext cx="1773936" cy="219456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F46E5"/>
                </a:solidFill>
                <a:latin typeface="Consolas"/>
              </a:defRPr>
            </a:pPr>
            <a:r>
              <a:t>EDGE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1847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  <a:latin typeface="Segoe UI"/>
              </a:defRPr>
            </a:pPr>
            <a:r>
              <a:t>100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576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Vercel Edge CDN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64748B"/>
                </a:solidFill>
                <a:latin typeface="Segoe UI"/>
              </a:defRPr>
            </a:pPr>
            <a:r>
              <a:t>React 18 &amp; Vite SPA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297680"/>
            <a:ext cx="18105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Global anycast edge caching with automated SSL/TLS certificates and instant continuous deployment on every Git push.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697480"/>
            <a:ext cx="20299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2697480"/>
            <a:ext cx="2029968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54096" y="2880360"/>
            <a:ext cx="1773936" cy="219456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11D48"/>
                </a:solidFill>
                <a:latin typeface="Consolas"/>
              </a:defRPr>
            </a:pPr>
            <a:r>
              <a:t>API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82112"/>
            <a:ext cx="1847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512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6576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Render API Service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64748B"/>
                </a:solidFill>
                <a:latin typeface="Segoe UI"/>
              </a:defRPr>
            </a:pPr>
            <a:r>
              <a:t>Node.js 22+ &amp;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297680"/>
            <a:ext cx="18105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Production REST API service running native crypto streaming, multi-file uploads, and rate limiting with 750 free compute hours/month.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697480"/>
            <a:ext cx="20299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2697480"/>
            <a:ext cx="2029968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48656" y="2880360"/>
            <a:ext cx="1773936" cy="219456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F46E5"/>
                </a:solidFill>
                <a:latin typeface="Consolas"/>
              </a:defRPr>
            </a:pPr>
            <a:r>
              <a:t>CLOUD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182112"/>
            <a:ext cx="1847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  <a:latin typeface="Segoe UI"/>
              </a:defRPr>
            </a:pPr>
            <a:r>
              <a:t>5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6576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TiDB Serverless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64748B"/>
                </a:solidFill>
                <a:latin typeface="Segoe UI"/>
              </a:defRPr>
            </a:pPr>
            <a:r>
              <a:t>Cloud MySQL 8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297680"/>
            <a:ext cx="18105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Distributed serverless MySQL database with auto-scaling storage, 50M Request Units/month, and dual SQLite development driver.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9" y="2697480"/>
            <a:ext cx="20299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199" y="2697480"/>
            <a:ext cx="2029968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43215" y="2880360"/>
            <a:ext cx="1773936" cy="219456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11D48"/>
                </a:solidFill>
                <a:latin typeface="Consolas"/>
              </a:defRPr>
            </a:pPr>
            <a:r>
              <a:t>OBJECT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39" y="3182112"/>
            <a:ext cx="1847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1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36576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Supabase S3 Bucket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64748B"/>
                </a:solidFill>
                <a:latin typeface="Segoe UI"/>
              </a:defRPr>
            </a:pPr>
            <a:r>
              <a:t>Object Binary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4297680"/>
            <a:ext cx="18105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S3-compatible object repository providing secure binary streaming, on-the-fly ZIP compression, and zero egress bandwidth fees.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697480"/>
            <a:ext cx="202996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09760" y="2697480"/>
            <a:ext cx="2029968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37776" y="2880360"/>
            <a:ext cx="1773936" cy="219456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59669"/>
                </a:solidFill>
                <a:latin typeface="Consolas"/>
              </a:defRPr>
            </a:pPr>
            <a:r>
              <a:t>MAINTENANCE CRON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182112"/>
            <a:ext cx="1847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59669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36576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Node-Cron Sweeper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64748B"/>
                </a:solidFill>
                <a:latin typeface="Segoe UI"/>
              </a:defRPr>
            </a:pPr>
            <a:r>
              <a:t>Automated Background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4297680"/>
            <a:ext cx="18105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Continuous cron service executing every 15 minutes to purge expired shares, unlink databases, and maintain storage quotas.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63347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Automated Testing Verification &amp; Security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Validated through a comprehensive Jest test suite and defense-in-depth threat mitigations.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20040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834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TEST SUITE EXECUTION</a:t>
            </a:r>
          </a:p>
          <a:p>
            <a:pPr>
              <a:spcBef>
                <a:spcPts val="800"/>
              </a:spcBef>
              <a:defRPr sz="4800" b="1">
                <a:solidFill>
                  <a:srgbClr val="059669"/>
                </a:solidFill>
                <a:latin typeface="Segoe UI"/>
              </a:defRPr>
            </a:pPr>
            <a:r>
              <a:t>53 / 53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JEST PLATFORM TESTS PASSING (100%)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Total Test Suites: 3 Suites Passing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Execution Time: 4.82 Seconds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Vulnerabilities: Audit Clean (0 High/Crit)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Code Coverage: Authentication, Upload, Inbox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Deployment Verification: Vercel + Render + TiDB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83080"/>
            <a:ext cx="3520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1546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Segoe UI"/>
              </a:defRPr>
            </a:pPr>
            <a:r>
              <a:t>AUTOMATED FUNCTIONAL COVERAGE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Authentication &amp; JWT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User registration, Bcrypt password hashing, JWT signing, profile updates, and logout invalidation.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Multi-File Upload Engine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MIME-type sanitization, SHA-256 integrity checks, and user quota threshold enforcement.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6-Digit Code Redemption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Random code resolution, rate limiting, and 5-attempt brute-force lockout defense.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Direct In-App Inboxes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Direct dispatch to @username, delivery checkmark status transitions, and unread badges.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Cloud Drive &amp; Lifecycle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Inline file renaming, trash bin soft-deletion, 1-click restore, and download counters.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Group Collaboration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Study group creation, WhatsApp-style chat messaging, member roles, and shared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783080"/>
            <a:ext cx="354787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965960"/>
            <a:ext cx="3182112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  <a:latin typeface="Segoe UI"/>
              </a:defRPr>
            </a:pPr>
            <a:r>
              <a:t>SECURITY AUDIT &amp; THREAT DEFENSE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128-Bit Unguessable Tokens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Cryptographically generated using Node's crypto.randomBytes() to prevent token prediction.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192-Bit Secret Revocation Key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Private 24-byte owner key permitting emergency file deletion anytime from any device.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Immediate Physical S3 Purge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Revoked sessions return permanent HTTP 410 Gone with zero lingering binary cache on S3.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File Extension Blocklist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Rejects potentially dangerous executables (.exe, .bat, .sh, .vbs, .msi, .php) at the upload boundary.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SQL Injection Protection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100% parameterized SQL prepared statements across all TiDB database query controllers.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🛡  Path Traversal Resistance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Strict path resolution ensuring filenames cannot escape designated storage sandbox roots.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30552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BE123C"/>
                </a:solidFill>
                <a:latin typeface="Segoe UI"/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9601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Executive Summary: What QuickShare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Fast, private, and verified file-sharing infrastructure built for modern academic collaboration.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777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965960"/>
            <a:ext cx="384048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4767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Frictionless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Transfer files instantaneously via 6-digit codes, direct recipient inboxes, encrypted URLs, or QR codes without mandatory account creation or password friction.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78308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7" y="1965960"/>
            <a:ext cx="384048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7" y="194767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Private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7" y="240487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Automated file lifecycles, burn-on-download mode, secret 24-byte owner revocation keys, and continuous 15-minute background S3 binary purges.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78308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1783080"/>
            <a:ext cx="3383280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1965960"/>
            <a:ext cx="384048" cy="2743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194767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Zero Financial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40487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Production-ready architecture operating 100% on free cloud tiers (Vercel, Render, TiDB, Supabase) with zero hosting costs (₹0 / month) and zero maintenance.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338328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206240"/>
            <a:ext cx="384048" cy="27432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1D4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8795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Production 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4515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Backed by 53 automated Jest platform tests (100% passing), defense-in-depth security mitigations, and an active live production cloud deployment.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7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07407" y="4023360"/>
            <a:ext cx="3383280" cy="5486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0287" y="4206240"/>
            <a:ext cx="384048" cy="27432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7" y="418795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Unified Academic 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7" y="464515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Integrated project collaboration groups with real-time WhatsApp-style chat, direct user inboxes, personal cloud drive, and audit history timelines.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402336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83296" y="4023360"/>
            <a:ext cx="3383280" cy="548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66176" y="4206240"/>
            <a:ext cx="384048" cy="2743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4187952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Future Engineering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645152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Client-side end-to-end encryption (Web Crypto API AES-GCM-256), automated malware scanning, native WebRTC P2P direct transfer, and multi-region replication.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0_img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7360" y="4754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N.B.K.R. INSTITUTE OF SCIENCE &amp; TECHNOLOGY</a:t>
            </a:r>
          </a:p>
          <a:p>
            <a:pPr>
              <a:spcBef>
                <a:spcPts val="300"/>
              </a:spcBef>
              <a:defRPr sz="1100">
                <a:solidFill>
                  <a:srgbClr val="FB7185"/>
                </a:solidFill>
                <a:latin typeface="Segoe UI"/>
              </a:defRPr>
            </a:pPr>
            <a:r>
              <a:t>Department of Computer Science &amp; Engineering  •  Vidyanagar, Andhra Pradesh</a:t>
            </a:r>
          </a:p>
        </p:txBody>
      </p:sp>
      <p:pic>
        <p:nvPicPr>
          <p:cNvPr id="5" name="Picture 4" descr="slide_10_img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114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1072865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9971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600" b="1">
                <a:solidFill>
                  <a:srgbClr val="FB7185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F8FAFC"/>
                </a:solidFill>
                <a:latin typeface="Segoe UI"/>
              </a:defRPr>
            </a:pPr>
            <a:r>
              <a:t>Questions &amp; Technical Discussion</a:t>
            </a:r>
          </a:p>
          <a:p>
            <a:pPr algn="ctr">
              <a:spcBef>
                <a:spcPts val="6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Project Supervisor: Dr. M. Sivapratap Reddy  (Associate Professor, Dept. of CSE)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566160"/>
            <a:ext cx="1901952" cy="6400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639312"/>
            <a:ext cx="17556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24KB1A05GP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 D Vara Prasad Reddy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6392" y="3566160"/>
            <a:ext cx="1901952" cy="6400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3639312"/>
            <a:ext cx="17556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24KB1A05HD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Shaik Arif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3566160"/>
            <a:ext cx="1901952" cy="6400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2936" y="3639312"/>
            <a:ext cx="17556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24KB1A05HW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Sk Mohammed Rasikh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3566160"/>
            <a:ext cx="1901952" cy="6400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3639312"/>
            <a:ext cx="17556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24KB1A05JE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Shaik Rehan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6568" y="3566160"/>
            <a:ext cx="1901952" cy="6400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639312"/>
            <a:ext cx="17556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B7185"/>
                </a:solidFill>
                <a:latin typeface="Consolas"/>
              </a:defRPr>
            </a:pPr>
            <a:r>
              <a:t>24KB1A05NB</a:t>
            </a:r>
          </a:p>
          <a:p>
            <a:pPr algn="ctr">
              <a:spcBef>
                <a:spcPts val="1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Veeravalli Syam Sundar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480560"/>
            <a:ext cx="2359152" cy="13716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4617720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Frontend Web Application</a:t>
            </a:r>
          </a:p>
          <a:p>
            <a:pPr>
              <a:spcBef>
                <a:spcPts val="600"/>
              </a:spcBef>
              <a:defRPr sz="850">
                <a:solidFill>
                  <a:srgbClr val="93C5FD"/>
                </a:solidFill>
                <a:latin typeface="Consolas"/>
              </a:defRPr>
            </a:pPr>
            <a:r>
              <a:t>https://quickshare-nbkr.vercel.app/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9312" y="4480560"/>
            <a:ext cx="2359152" cy="13716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4617720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Backend REST API</a:t>
            </a:r>
          </a:p>
          <a:p>
            <a:pPr>
              <a:spcBef>
                <a:spcPts val="600"/>
              </a:spcBef>
              <a:defRPr sz="850">
                <a:solidFill>
                  <a:srgbClr val="93C5FD"/>
                </a:solidFill>
                <a:latin typeface="Consolas"/>
              </a:defRPr>
            </a:pPr>
            <a:r>
              <a:t>https://share-api-0xvn.onrender.com/api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4480560"/>
            <a:ext cx="2359152" cy="13716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617720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API Health Check</a:t>
            </a:r>
          </a:p>
          <a:p>
            <a:pPr>
              <a:spcBef>
                <a:spcPts val="600"/>
              </a:spcBef>
              <a:defRPr sz="850">
                <a:solidFill>
                  <a:srgbClr val="93C5FD"/>
                </a:solidFill>
                <a:latin typeface="Consolas"/>
              </a:defRPr>
            </a:pPr>
            <a:r>
              <a:t>https://share-api-0xvn.onrender.com/api/health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6" y="4480560"/>
            <a:ext cx="2359152" cy="13716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4" y="4617720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B7185"/>
                </a:solidFill>
                <a:latin typeface="Segoe UI"/>
              </a:defRPr>
            </a:pPr>
            <a:r>
              <a:t>GitHub Open-Source Repository</a:t>
            </a:r>
          </a:p>
          <a:p>
            <a:pPr>
              <a:spcBef>
                <a:spcPts val="600"/>
              </a:spcBef>
              <a:defRPr sz="850">
                <a:solidFill>
                  <a:srgbClr val="93C5FD"/>
                </a:solidFill>
                <a:latin typeface="Consolas"/>
              </a:defRPr>
            </a:pPr>
            <a:r>
              <a:t>https://github.com/sathidevivaraprasadreddy/share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